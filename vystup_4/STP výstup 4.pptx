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59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8625D9-D06A-2C63-8C04-7B3B98BB1E8A}" v="1111" dt="2026-05-03T13:14:44.243"/>
    <p1510:client id="{DE00EE45-F51A-141F-FBA9-1D8B14A4604F}" v="260" dt="2026-05-03T13:43:08.2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889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380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620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244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32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049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777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143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959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500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243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07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88" r:id="rId6"/>
    <p:sldLayoutId id="2147483684" r:id="rId7"/>
    <p:sldLayoutId id="2147483685" r:id="rId8"/>
    <p:sldLayoutId id="2147483686" r:id="rId9"/>
    <p:sldLayoutId id="2147483687" r:id="rId10"/>
    <p:sldLayoutId id="214748368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A875D55-4A80-43E9-38F6-27E366493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loseup of a keyboard">
            <a:extLst>
              <a:ext uri="{FF2B5EF4-FFF2-40B4-BE49-F238E27FC236}">
                <a16:creationId xmlns:a16="http://schemas.microsoft.com/office/drawing/2014/main" id="{8BFB3AA9-A941-ABAB-F9FD-494FDB8AACB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11980" r="-2" b="1141"/>
          <a:stretch>
            <a:fillRect/>
          </a:stretch>
        </p:blipFill>
        <p:spPr>
          <a:xfrm>
            <a:off x="1" y="1"/>
            <a:ext cx="1219200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01923" y="1482602"/>
            <a:ext cx="7588155" cy="2236264"/>
          </a:xfrm>
        </p:spPr>
        <p:txBody>
          <a:bodyPr>
            <a:normAutofit/>
          </a:bodyPr>
          <a:lstStyle/>
          <a:p>
            <a:r>
              <a:rPr lang="en-US" sz="5400" dirty="0" err="1">
                <a:solidFill>
                  <a:srgbClr val="FFFFFF"/>
                </a:solidFill>
              </a:rPr>
              <a:t>Stenokeyboard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01923" y="3793937"/>
            <a:ext cx="7588155" cy="141409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dirty="0" err="1">
                <a:solidFill>
                  <a:srgbClr val="FFFFFF"/>
                </a:solidFill>
              </a:rPr>
              <a:t>Výstup</a:t>
            </a:r>
            <a:r>
              <a:rPr lang="en-US" sz="2200" dirty="0">
                <a:solidFill>
                  <a:srgbClr val="FFFFFF"/>
                </a:solidFill>
              </a:rPr>
              <a:t> 4</a:t>
            </a:r>
          </a:p>
          <a:p>
            <a:r>
              <a:rPr lang="en-US" sz="2200" dirty="0">
                <a:solidFill>
                  <a:srgbClr val="FFFFFF"/>
                </a:solidFill>
              </a:rPr>
              <a:t>Vojtěch </a:t>
            </a:r>
            <a:r>
              <a:rPr lang="en-US" sz="2200" dirty="0" err="1">
                <a:solidFill>
                  <a:srgbClr val="FFFFFF"/>
                </a:solidFill>
              </a:rPr>
              <a:t>Nebes</a:t>
            </a:r>
            <a:r>
              <a:rPr lang="en-US" sz="2200" dirty="0">
                <a:solidFill>
                  <a:srgbClr val="FFFFFF"/>
                </a:solidFill>
              </a:rPr>
              <a:t>, 3. A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E90F8DE-D6EE-243A-8018-C9C544CBC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Teorie</a:t>
            </a:r>
          </a:p>
        </p:txBody>
      </p:sp>
      <p:pic>
        <p:nvPicPr>
          <p:cNvPr id="7" name="Picture 6" descr="A diagram of a computer&#10;&#10;AI-generated content may be incorrect.">
            <a:extLst>
              <a:ext uri="{FF2B5EF4-FFF2-40B4-BE49-F238E27FC236}">
                <a16:creationId xmlns:a16="http://schemas.microsoft.com/office/drawing/2014/main" id="{D20DE209-856E-9049-B6AF-9B791A34DD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3795" y="547617"/>
            <a:ext cx="7134726" cy="2143265"/>
          </a:xfrm>
          <a:prstGeom prst="rect">
            <a:avLst/>
          </a:prstGeom>
        </p:spPr>
      </p:pic>
      <p:pic>
        <p:nvPicPr>
          <p:cNvPr id="8" name="Picture 7" descr="A screenshot of a phone&#10;&#10;AI-generated content may be incorrect.">
            <a:extLst>
              <a:ext uri="{FF2B5EF4-FFF2-40B4-BE49-F238E27FC236}">
                <a16:creationId xmlns:a16="http://schemas.microsoft.com/office/drawing/2014/main" id="{42CA891A-9150-3CF2-11CA-06D1314497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927" y="3430781"/>
            <a:ext cx="5580646" cy="2783751"/>
          </a:xfrm>
          <a:prstGeom prst="rect">
            <a:avLst/>
          </a:prstGeom>
        </p:spPr>
      </p:pic>
      <p:pic>
        <p:nvPicPr>
          <p:cNvPr id="9" name="Picture 8" descr="A screenshot of a phone&#10;&#10;AI-generated content may be incorrect.">
            <a:extLst>
              <a:ext uri="{FF2B5EF4-FFF2-40B4-BE49-F238E27FC236}">
                <a16:creationId xmlns:a16="http://schemas.microsoft.com/office/drawing/2014/main" id="{0086201F-5002-0DE4-6844-0664FB9FF1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8479" y="3434434"/>
            <a:ext cx="5580646" cy="27964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211B918-B5ED-C01C-276E-BC2540E92F05}"/>
              </a:ext>
            </a:extLst>
          </p:cNvPr>
          <p:cNvSpPr txBox="1"/>
          <p:nvPr/>
        </p:nvSpPr>
        <p:spPr>
          <a:xfrm>
            <a:off x="1574328" y="2903207"/>
            <a:ext cx="294753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/>
              <a:t>KAT -&gt; "cat"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682280-14D9-2985-6771-E94E7336E069}"/>
              </a:ext>
            </a:extLst>
          </p:cNvPr>
          <p:cNvSpPr txBox="1"/>
          <p:nvPr/>
        </p:nvSpPr>
        <p:spPr>
          <a:xfrm>
            <a:off x="8061353" y="2908220"/>
            <a:ext cx="155388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/>
              <a:t>TKA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126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a keyboard&#10;&#10;AI-generated content may be incorrect.">
            <a:extLst>
              <a:ext uri="{FF2B5EF4-FFF2-40B4-BE49-F238E27FC236}">
                <a16:creationId xmlns:a16="http://schemas.microsoft.com/office/drawing/2014/main" id="{3ACDB7C1-9A9B-49DA-C25F-D2B5171837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212" y="1454568"/>
            <a:ext cx="4611604" cy="49414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EF9CA38-01C1-289E-38D2-BBC24F57343A}"/>
              </a:ext>
            </a:extLst>
          </p:cNvPr>
          <p:cNvSpPr txBox="1"/>
          <p:nvPr/>
        </p:nvSpPr>
        <p:spPr>
          <a:xfrm>
            <a:off x="7875180" y="1302437"/>
            <a:ext cx="2136588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/>
              <a:t>"long"</a:t>
            </a:r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D5E63E3-EC8E-38EA-50B8-A9B914F3E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Akordy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414798-6ADC-2E60-561C-1E6A0F9533A1}"/>
              </a:ext>
            </a:extLst>
          </p:cNvPr>
          <p:cNvSpPr txBox="1"/>
          <p:nvPr/>
        </p:nvSpPr>
        <p:spPr>
          <a:xfrm>
            <a:off x="6795680" y="3097935"/>
            <a:ext cx="82176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/>
              <a:t>HR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568637-E6EC-1E89-7E5F-E0FC8AB30FEF}"/>
              </a:ext>
            </a:extLst>
          </p:cNvPr>
          <p:cNvSpPr txBox="1"/>
          <p:nvPr/>
        </p:nvSpPr>
        <p:spPr>
          <a:xfrm>
            <a:off x="8035404" y="3097738"/>
            <a:ext cx="80682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/>
              <a:t>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1CEF0A-94D4-8213-CD00-1EFF41C6982A}"/>
              </a:ext>
            </a:extLst>
          </p:cNvPr>
          <p:cNvSpPr txBox="1"/>
          <p:nvPr/>
        </p:nvSpPr>
        <p:spPr>
          <a:xfrm>
            <a:off x="9069883" y="3102457"/>
            <a:ext cx="95839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/>
              <a:t>-PB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981E43-6FE7-CBDD-D596-44ADC0E51089}"/>
              </a:ext>
            </a:extLst>
          </p:cNvPr>
          <p:cNvSpPr txBox="1"/>
          <p:nvPr/>
        </p:nvSpPr>
        <p:spPr>
          <a:xfrm>
            <a:off x="10390212" y="3106977"/>
            <a:ext cx="83886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/>
              <a:t>-G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5784220-2798-6784-870E-91B2F5F0E927}"/>
              </a:ext>
            </a:extLst>
          </p:cNvPr>
          <p:cNvCxnSpPr/>
          <p:nvPr/>
        </p:nvCxnSpPr>
        <p:spPr>
          <a:xfrm flipH="1">
            <a:off x="7278318" y="1811813"/>
            <a:ext cx="1176028" cy="125466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E73402B-6C31-67DB-C583-0ECFE470532C}"/>
              </a:ext>
            </a:extLst>
          </p:cNvPr>
          <p:cNvCxnSpPr>
            <a:cxnSpLocks/>
          </p:cNvCxnSpPr>
          <p:nvPr/>
        </p:nvCxnSpPr>
        <p:spPr>
          <a:xfrm flipH="1">
            <a:off x="8280949" y="1821839"/>
            <a:ext cx="434080" cy="124464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9545ECA-DB0D-72FC-9262-7B14448A24A5}"/>
              </a:ext>
            </a:extLst>
          </p:cNvPr>
          <p:cNvCxnSpPr>
            <a:cxnSpLocks/>
          </p:cNvCxnSpPr>
          <p:nvPr/>
        </p:nvCxnSpPr>
        <p:spPr>
          <a:xfrm>
            <a:off x="9005791" y="1821838"/>
            <a:ext cx="428184" cy="124464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C4C78E7-3E81-6668-CF67-CFFCA720901B}"/>
              </a:ext>
            </a:extLst>
          </p:cNvPr>
          <p:cNvCxnSpPr>
            <a:cxnSpLocks/>
          </p:cNvCxnSpPr>
          <p:nvPr/>
        </p:nvCxnSpPr>
        <p:spPr>
          <a:xfrm>
            <a:off x="9326633" y="1831864"/>
            <a:ext cx="1170130" cy="124464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E555FFF-58DF-5C5F-963C-0E6A7DBC3EB8}"/>
              </a:ext>
            </a:extLst>
          </p:cNvPr>
          <p:cNvSpPr txBox="1"/>
          <p:nvPr/>
        </p:nvSpPr>
        <p:spPr>
          <a:xfrm>
            <a:off x="7978784" y="4511645"/>
            <a:ext cx="196476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/>
              <a:t>HRO-PBG</a:t>
            </a:r>
            <a:endParaRPr lang="en-US"/>
          </a:p>
        </p:txBody>
      </p:sp>
      <p:sp>
        <p:nvSpPr>
          <p:cNvPr id="23" name="Right Brace 22">
            <a:extLst>
              <a:ext uri="{FF2B5EF4-FFF2-40B4-BE49-F238E27FC236}">
                <a16:creationId xmlns:a16="http://schemas.microsoft.com/office/drawing/2014/main" id="{CECF26E5-E4C0-E998-EBDD-B2960C0D8BB6}"/>
              </a:ext>
            </a:extLst>
          </p:cNvPr>
          <p:cNvSpPr/>
          <p:nvPr/>
        </p:nvSpPr>
        <p:spPr>
          <a:xfrm rot="5400000">
            <a:off x="8577511" y="1938323"/>
            <a:ext cx="519403" cy="4068127"/>
          </a:xfrm>
          <a:prstGeom prst="rightBrac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206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558B1-894C-3CB3-E225-3DAEE5B38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Firmware???</a:t>
            </a:r>
          </a:p>
        </p:txBody>
      </p:sp>
      <p:pic>
        <p:nvPicPr>
          <p:cNvPr id="4" name="Graphic 3" descr="The Uni | StenoKeyboards Docs">
            <a:extLst>
              <a:ext uri="{FF2B5EF4-FFF2-40B4-BE49-F238E27FC236}">
                <a16:creationId xmlns:a16="http://schemas.microsoft.com/office/drawing/2014/main" id="{56337648-B13F-35D5-F963-0FFA3AA92B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38688" y="2008113"/>
            <a:ext cx="7465592" cy="23120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5068505-ECC0-C7DC-C855-81D400868738}"/>
              </a:ext>
            </a:extLst>
          </p:cNvPr>
          <p:cNvSpPr txBox="1"/>
          <p:nvPr/>
        </p:nvSpPr>
        <p:spPr>
          <a:xfrm>
            <a:off x="2520617" y="2218109"/>
            <a:ext cx="7680156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rgbClr val="FF0000"/>
                </a:solidFill>
                <a:latin typeface="Aptos Mono"/>
              </a:rPr>
              <a:t>0   1   2  3   16          4  5   8   9  10  11</a:t>
            </a:r>
            <a:endParaRPr lang="en-US" sz="2000" b="1" dirty="0">
              <a:solidFill>
                <a:srgbClr val="FF0000"/>
              </a:solidFill>
              <a:latin typeface="Aptos Mono"/>
            </a:endParaRPr>
          </a:p>
          <a:p>
            <a:endParaRPr lang="en-US" sz="2000" b="1" dirty="0">
              <a:solidFill>
                <a:srgbClr val="FF0000"/>
              </a:solidFill>
              <a:latin typeface="Aptos Mono"/>
            </a:endParaRPr>
          </a:p>
          <a:p>
            <a:r>
              <a:rPr lang="en-US" sz="2000" b="1">
                <a:solidFill>
                  <a:srgbClr val="FF0000"/>
                </a:solidFill>
                <a:latin typeface="Aptos Mono"/>
              </a:rPr>
              <a:t>12 13  14  15  17          6  7   20  21 22  23</a:t>
            </a:r>
            <a:endParaRPr lang="en-US" sz="2000" b="1" dirty="0">
              <a:solidFill>
                <a:srgbClr val="FF0000"/>
              </a:solidFill>
              <a:latin typeface="Aptos Mono"/>
            </a:endParaRPr>
          </a:p>
          <a:p>
            <a:endParaRPr lang="en-US" sz="2000" b="1" dirty="0">
              <a:solidFill>
                <a:srgbClr val="FF0000"/>
              </a:solidFill>
              <a:latin typeface="Aptos Mono"/>
            </a:endParaRPr>
          </a:p>
          <a:p>
            <a:endParaRPr lang="en-US" sz="2000" b="1" dirty="0">
              <a:solidFill>
                <a:srgbClr val="FF0000"/>
              </a:solidFill>
              <a:latin typeface="Aptos Mono"/>
            </a:endParaRPr>
          </a:p>
          <a:p>
            <a:endParaRPr lang="en-US" sz="2000" b="1" dirty="0">
              <a:solidFill>
                <a:srgbClr val="FF0000"/>
              </a:solidFill>
              <a:latin typeface="Aptos Mono"/>
            </a:endParaRPr>
          </a:p>
          <a:p>
            <a:r>
              <a:rPr lang="en-US" sz="2000" b="1">
                <a:solidFill>
                  <a:srgbClr val="FF0000"/>
                </a:solidFill>
                <a:latin typeface="Aptos Mono"/>
              </a:rPr>
              <a:t>       18  19  24         26  27  28</a:t>
            </a:r>
            <a:endParaRPr lang="en-US" sz="2000" b="1" dirty="0">
              <a:solidFill>
                <a:srgbClr val="FF0000"/>
              </a:solidFill>
              <a:latin typeface="Aptos Mon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0BCA56-04EE-CC63-2CEB-292C696037F7}"/>
              </a:ext>
            </a:extLst>
          </p:cNvPr>
          <p:cNvSpPr txBox="1"/>
          <p:nvPr/>
        </p:nvSpPr>
        <p:spPr>
          <a:xfrm>
            <a:off x="3015056" y="5324261"/>
            <a:ext cx="616417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/>
              <a:t>29b        0=12, 18=28, ...        23b        3B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EF905CC-8FA9-0F08-3EE0-47F2604D8C93}"/>
              </a:ext>
            </a:extLst>
          </p:cNvPr>
          <p:cNvCxnSpPr/>
          <p:nvPr/>
        </p:nvCxnSpPr>
        <p:spPr>
          <a:xfrm>
            <a:off x="3762159" y="5550855"/>
            <a:ext cx="451470" cy="85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F74253F-E02A-EC3B-7A7B-448145E6AAC7}"/>
              </a:ext>
            </a:extLst>
          </p:cNvPr>
          <p:cNvCxnSpPr>
            <a:cxnSpLocks/>
          </p:cNvCxnSpPr>
          <p:nvPr/>
        </p:nvCxnSpPr>
        <p:spPr>
          <a:xfrm>
            <a:off x="6427153" y="5550854"/>
            <a:ext cx="451470" cy="85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D1F6C26-A69C-ABF7-2B88-0836D97D561B}"/>
              </a:ext>
            </a:extLst>
          </p:cNvPr>
          <p:cNvCxnSpPr>
            <a:cxnSpLocks/>
          </p:cNvCxnSpPr>
          <p:nvPr/>
        </p:nvCxnSpPr>
        <p:spPr>
          <a:xfrm>
            <a:off x="7613696" y="5550854"/>
            <a:ext cx="451470" cy="85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205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C316B-9511-F496-1270-9D0CFC87D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99917-8B30-984A-CC9E-CF1119D2D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Firmware???</a:t>
            </a:r>
          </a:p>
        </p:txBody>
      </p:sp>
      <p:pic>
        <p:nvPicPr>
          <p:cNvPr id="3" name="Graphic 2" descr="The Keyboard - Part 2 : The Matrix">
            <a:extLst>
              <a:ext uri="{FF2B5EF4-FFF2-40B4-BE49-F238E27FC236}">
                <a16:creationId xmlns:a16="http://schemas.microsoft.com/office/drawing/2014/main" id="{523E96F4-E846-A115-C290-ABB85C48D3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3321" y="1580593"/>
            <a:ext cx="2743199" cy="1310549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B8B03B0D-C9CE-9AD9-29CE-74C7A93E8E4D}"/>
              </a:ext>
            </a:extLst>
          </p:cNvPr>
          <p:cNvGrpSpPr/>
          <p:nvPr/>
        </p:nvGrpSpPr>
        <p:grpSpPr>
          <a:xfrm>
            <a:off x="358083" y="2993571"/>
            <a:ext cx="4014248" cy="1240476"/>
            <a:chOff x="358083" y="2993571"/>
            <a:chExt cx="4014248" cy="1240476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647769F-1EA6-B6D1-8228-224911D1395A}"/>
                </a:ext>
              </a:extLst>
            </p:cNvPr>
            <p:cNvSpPr txBox="1"/>
            <p:nvPr/>
          </p:nvSpPr>
          <p:spPr>
            <a:xfrm>
              <a:off x="358083" y="3864715"/>
              <a:ext cx="4014248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  <a:latin typeface="Aptos Mono"/>
                </a:rPr>
                <a:t>uint_8t</a:t>
              </a:r>
              <a:r>
                <a:rPr lang="en-US" dirty="0">
                  <a:latin typeface="Aptos Mono"/>
                </a:rPr>
                <a:t>*</a:t>
              </a:r>
              <a:r>
                <a:rPr lang="en-US" dirty="0">
                  <a:solidFill>
                    <a:srgbClr val="7030A0"/>
                  </a:solidFill>
                  <a:latin typeface="Aptos Mono"/>
                </a:rPr>
                <a:t> </a:t>
              </a:r>
              <a:r>
                <a:rPr lang="en-US" dirty="0" err="1">
                  <a:solidFill>
                    <a:srgbClr val="7030A0"/>
                  </a:solidFill>
                  <a:latin typeface="Aptos Mono"/>
                </a:rPr>
                <a:t>hw_keyboard_scan</a:t>
              </a:r>
              <a:r>
                <a:rPr lang="en-US" dirty="0">
                  <a:latin typeface="Aptos Mono"/>
                </a:rPr>
                <a:t>();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A3C61D84-7E6E-F2AC-5EBA-ABC4ED8B0E4F}"/>
                </a:ext>
              </a:extLst>
            </p:cNvPr>
            <p:cNvCxnSpPr/>
            <p:nvPr/>
          </p:nvCxnSpPr>
          <p:spPr>
            <a:xfrm>
              <a:off x="1992085" y="2993571"/>
              <a:ext cx="10885" cy="870857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EE7514-5EBA-6512-9F8D-8850AE1C61BA}"/>
              </a:ext>
            </a:extLst>
          </p:cNvPr>
          <p:cNvGrpSpPr/>
          <p:nvPr/>
        </p:nvGrpSpPr>
        <p:grpSpPr>
          <a:xfrm>
            <a:off x="2302900" y="4327072"/>
            <a:ext cx="6844537" cy="1668455"/>
            <a:chOff x="2302900" y="4327072"/>
            <a:chExt cx="6844537" cy="166845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898E962-BDD8-98CD-C2AB-EA1AE17ED351}"/>
                </a:ext>
              </a:extLst>
            </p:cNvPr>
            <p:cNvSpPr txBox="1"/>
            <p:nvPr/>
          </p:nvSpPr>
          <p:spPr>
            <a:xfrm>
              <a:off x="2369074" y="5626195"/>
              <a:ext cx="6778363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dirty="0" err="1">
                  <a:latin typeface="Aptos Mono"/>
                </a:rPr>
                <a:t>key_state</a:t>
              </a:r>
              <a:r>
                <a:rPr lang="en-US" dirty="0">
                  <a:latin typeface="Aptos Mono"/>
                </a:rPr>
                <a:t>: 00000000 00000000 01000000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9834AD36-0D1E-E515-2122-BB1A1F9F44E0}"/>
                </a:ext>
              </a:extLst>
            </p:cNvPr>
            <p:cNvCxnSpPr>
              <a:cxnSpLocks/>
            </p:cNvCxnSpPr>
            <p:nvPr/>
          </p:nvCxnSpPr>
          <p:spPr>
            <a:xfrm>
              <a:off x="2302900" y="4327072"/>
              <a:ext cx="1474727" cy="1151593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E636693-45DB-190D-DEC1-F0447E01FCCF}"/>
              </a:ext>
            </a:extLst>
          </p:cNvPr>
          <p:cNvGrpSpPr/>
          <p:nvPr/>
        </p:nvGrpSpPr>
        <p:grpSpPr>
          <a:xfrm>
            <a:off x="5604708" y="2997868"/>
            <a:ext cx="6240666" cy="2482231"/>
            <a:chOff x="5604708" y="2997868"/>
            <a:chExt cx="6240666" cy="248223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2411212-1798-9B68-9469-B686E1B88719}"/>
                </a:ext>
              </a:extLst>
            </p:cNvPr>
            <p:cNvSpPr txBox="1"/>
            <p:nvPr/>
          </p:nvSpPr>
          <p:spPr>
            <a:xfrm>
              <a:off x="5604708" y="2997868"/>
              <a:ext cx="6240666" cy="156966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600" dirty="0" err="1">
                  <a:latin typeface="Aptos Mono"/>
                </a:rPr>
                <a:t>chord_state</a:t>
              </a:r>
              <a:r>
                <a:rPr lang="en-US" sz="1600" dirty="0">
                  <a:latin typeface="Aptos Mono"/>
                </a:rPr>
                <a:t>: 00000000 00100100 01000000</a:t>
              </a:r>
            </a:p>
            <a:p>
              <a:pPr algn="ctr"/>
              <a:endParaRPr lang="en-US" sz="1600" dirty="0">
                <a:latin typeface="Aptos Mono"/>
              </a:endParaRPr>
            </a:p>
            <a:p>
              <a:pPr algn="ctr"/>
              <a:endParaRPr lang="en-US" sz="1600" dirty="0">
                <a:latin typeface="Aptos Mono"/>
              </a:endParaRPr>
            </a:p>
            <a:p>
              <a:pPr algn="ctr"/>
              <a:r>
                <a:rPr lang="en-US" sz="1600" dirty="0" err="1">
                  <a:latin typeface="Aptos Mono"/>
                </a:rPr>
                <a:t>chord_state</a:t>
              </a:r>
              <a:r>
                <a:rPr lang="en-US" sz="1600" dirty="0">
                  <a:latin typeface="Aptos Mono"/>
                </a:rPr>
                <a:t>: 00000000 00100100 00000000</a:t>
              </a:r>
            </a:p>
            <a:p>
              <a:pPr algn="ctr"/>
              <a:r>
                <a:rPr lang="en-US" sz="1600">
                  <a:latin typeface="Aptos Mono"/>
                </a:rPr>
                <a:t>      +</a:t>
              </a:r>
              <a:endParaRPr lang="en-US" sz="1600" dirty="0">
                <a:latin typeface="Aptos Mono"/>
              </a:endParaRPr>
            </a:p>
            <a:p>
              <a:pPr algn="ctr"/>
              <a:r>
                <a:rPr lang="en-US" sz="1600" dirty="0">
                  <a:latin typeface="Aptos Mono"/>
                </a:rPr>
                <a:t>  </a:t>
              </a:r>
              <a:r>
                <a:rPr lang="en-US" sz="1600" dirty="0" err="1">
                  <a:latin typeface="Aptos Mono"/>
                </a:rPr>
                <a:t>key_state</a:t>
              </a:r>
              <a:r>
                <a:rPr lang="en-US" sz="1600" dirty="0">
                  <a:latin typeface="Aptos Mono"/>
                </a:rPr>
                <a:t>: 00000000 00000000 01000000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BB3E1328-6F9D-8F45-D28C-559DB6819D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66716" y="4736719"/>
              <a:ext cx="1013517" cy="74338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E36B90FB-0CC4-069E-F154-96F80F044C6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69802" y="3341626"/>
              <a:ext cx="19193" cy="362956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5387730-2B94-3DBA-25F3-87F9DF148CD3}"/>
              </a:ext>
            </a:extLst>
          </p:cNvPr>
          <p:cNvCxnSpPr>
            <a:cxnSpLocks/>
          </p:cNvCxnSpPr>
          <p:nvPr/>
        </p:nvCxnSpPr>
        <p:spPr>
          <a:xfrm flipV="1">
            <a:off x="9160901" y="1177377"/>
            <a:ext cx="4703200" cy="155551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9690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BB1A9-4659-9FD7-827E-9B4C473B7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5DCAA45-8679-F79C-F926-77F57FD282F2}"/>
              </a:ext>
            </a:extLst>
          </p:cNvPr>
          <p:cNvCxnSpPr>
            <a:cxnSpLocks/>
          </p:cNvCxnSpPr>
          <p:nvPr/>
        </p:nvCxnSpPr>
        <p:spPr>
          <a:xfrm flipV="1">
            <a:off x="-3172614" y="1220920"/>
            <a:ext cx="4703200" cy="155551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Graphic 19" descr="The Keyboard - Part 2 : The Matrix">
            <a:extLst>
              <a:ext uri="{FF2B5EF4-FFF2-40B4-BE49-F238E27FC236}">
                <a16:creationId xmlns:a16="http://schemas.microsoft.com/office/drawing/2014/main" id="{2446BB4A-9917-D5B6-F996-8D604B78B4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78978" y="513793"/>
            <a:ext cx="2743199" cy="1310549"/>
          </a:xfrm>
          <a:prstGeom prst="rect">
            <a:avLst/>
          </a:prstGeom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36E0222B-1201-641A-B674-BBD38EF2A2DA}"/>
              </a:ext>
            </a:extLst>
          </p:cNvPr>
          <p:cNvGrpSpPr/>
          <p:nvPr/>
        </p:nvGrpSpPr>
        <p:grpSpPr>
          <a:xfrm>
            <a:off x="4561113" y="1067086"/>
            <a:ext cx="5275847" cy="369332"/>
            <a:chOff x="4561113" y="1067086"/>
            <a:chExt cx="5275847" cy="369332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781871C-8BE0-EF5C-FAB2-D97F48187EF2}"/>
                </a:ext>
              </a:extLst>
            </p:cNvPr>
            <p:cNvSpPr txBox="1"/>
            <p:nvPr/>
          </p:nvSpPr>
          <p:spPr>
            <a:xfrm>
              <a:off x="6094854" y="1067086"/>
              <a:ext cx="3742106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  <a:latin typeface="Aptos Mono"/>
                </a:rPr>
                <a:t>bool </a:t>
              </a:r>
              <a:r>
                <a:rPr lang="en-US" dirty="0" err="1">
                  <a:solidFill>
                    <a:srgbClr val="7030A0"/>
                  </a:solidFill>
                  <a:latin typeface="Aptos Mono"/>
                </a:rPr>
                <a:t>is_keyboard_empty</a:t>
              </a:r>
              <a:r>
                <a:rPr lang="en-US" dirty="0">
                  <a:latin typeface="Aptos Mono"/>
                </a:rPr>
                <a:t>();</a:t>
              </a: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AF4BFBE5-A155-FF3E-5347-B3A1C0325D2F}"/>
                </a:ext>
              </a:extLst>
            </p:cNvPr>
            <p:cNvCxnSpPr/>
            <p:nvPr/>
          </p:nvCxnSpPr>
          <p:spPr>
            <a:xfrm flipV="1">
              <a:off x="4561113" y="1251857"/>
              <a:ext cx="1328056" cy="10886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DA5A7FB-8CE0-F72E-36D3-469847C901ED}"/>
              </a:ext>
            </a:extLst>
          </p:cNvPr>
          <p:cNvGrpSpPr/>
          <p:nvPr/>
        </p:nvGrpSpPr>
        <p:grpSpPr>
          <a:xfrm>
            <a:off x="5225142" y="1611086"/>
            <a:ext cx="4219933" cy="2431202"/>
            <a:chOff x="5225142" y="1611086"/>
            <a:chExt cx="4219933" cy="243120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5CA41C1-B1EE-85DD-6001-08194E963CB5}"/>
                </a:ext>
              </a:extLst>
            </p:cNvPr>
            <p:cNvSpPr txBox="1"/>
            <p:nvPr/>
          </p:nvSpPr>
          <p:spPr>
            <a:xfrm>
              <a:off x="8609454" y="1937944"/>
              <a:ext cx="835621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>
                  <a:solidFill>
                    <a:srgbClr val="0070C0"/>
                  </a:solidFill>
                  <a:latin typeface="Aptos Mono"/>
                </a:rPr>
                <a:t>true</a:t>
              </a:r>
              <a:endParaRPr lang="en-US"/>
            </a:p>
          </p:txBody>
        </p:sp>
        <p:pic>
          <p:nvPicPr>
            <p:cNvPr id="26" name="Picture 25" descr="CS 225 | Binary Search Trees">
              <a:extLst>
                <a:ext uri="{FF2B5EF4-FFF2-40B4-BE49-F238E27FC236}">
                  <a16:creationId xmlns:a16="http://schemas.microsoft.com/office/drawing/2014/main" id="{6337B870-110B-0708-FC41-93A6F6BCB17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43" r="-997" b="17714"/>
            <a:stretch>
              <a:fillRect/>
            </a:stretch>
          </p:blipFill>
          <p:spPr>
            <a:xfrm>
              <a:off x="5225142" y="2479221"/>
              <a:ext cx="3214981" cy="1563067"/>
            </a:xfrm>
            <a:prstGeom prst="rect">
              <a:avLst/>
            </a:prstGeom>
          </p:spPr>
        </p:pic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1FE92C6E-A3B9-276E-DECF-33C6A66E0B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92142" y="1611086"/>
              <a:ext cx="1099457" cy="1034142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F584B67-B567-0241-A7C2-654BF1CFA7FE}"/>
              </a:ext>
            </a:extLst>
          </p:cNvPr>
          <p:cNvGrpSpPr/>
          <p:nvPr/>
        </p:nvGrpSpPr>
        <p:grpSpPr>
          <a:xfrm>
            <a:off x="957943" y="4071257"/>
            <a:ext cx="11745685" cy="1980417"/>
            <a:chOff x="957943" y="4071257"/>
            <a:chExt cx="11745685" cy="198041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781B2EE-F9DD-EA60-EA51-80E49627DCD5}"/>
                </a:ext>
              </a:extLst>
            </p:cNvPr>
            <p:cNvSpPr txBox="1"/>
            <p:nvPr/>
          </p:nvSpPr>
          <p:spPr>
            <a:xfrm>
              <a:off x="957943" y="5072742"/>
              <a:ext cx="11745685" cy="30777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400" b="1" i="0" u="none" strike="noStrike" baseline="0">
                  <a:solidFill>
                    <a:srgbClr val="C00000"/>
                  </a:solidFill>
                  <a:latin typeface="Aptos Mono"/>
                </a:rPr>
                <a:t>00000000 00100100 </a:t>
              </a:r>
              <a:r>
                <a:rPr lang="en-US" sz="1400" b="1">
                  <a:solidFill>
                    <a:srgbClr val="C00000"/>
                  </a:solidFill>
                  <a:latin typeface="Aptos Mono"/>
                </a:rPr>
                <a:t>01000000 </a:t>
              </a:r>
              <a:r>
                <a:rPr lang="en-US" sz="1400" b="1">
                  <a:solidFill>
                    <a:schemeClr val="bg2">
                      <a:lumMod val="49000"/>
                    </a:schemeClr>
                  </a:solidFill>
                  <a:latin typeface="Aptos Mono"/>
                </a:rPr>
                <a:t>01100011 01100001 01110100 \0 \0 \0 \0 \0 \0 \0 \0 \0 \0 \0 \0 \0 \0 \0</a:t>
              </a:r>
              <a:endParaRPr lang="en-US">
                <a:solidFill>
                  <a:schemeClr val="bg2">
                    <a:lumMod val="49000"/>
                  </a:schemeClr>
                </a:solidFill>
              </a:endParaRPr>
            </a:p>
          </p:txBody>
        </p:sp>
        <p:sp>
          <p:nvSpPr>
            <p:cNvPr id="28" name="Right Brace 27">
              <a:extLst>
                <a:ext uri="{FF2B5EF4-FFF2-40B4-BE49-F238E27FC236}">
                  <a16:creationId xmlns:a16="http://schemas.microsoft.com/office/drawing/2014/main" id="{A915E415-4A65-970C-A713-7AC48C82EE4F}"/>
                </a:ext>
              </a:extLst>
            </p:cNvPr>
            <p:cNvSpPr/>
            <p:nvPr/>
          </p:nvSpPr>
          <p:spPr>
            <a:xfrm rot="5400000">
              <a:off x="2286001" y="4103916"/>
              <a:ext cx="217714" cy="2764969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ight Brace 28">
              <a:extLst>
                <a:ext uri="{FF2B5EF4-FFF2-40B4-BE49-F238E27FC236}">
                  <a16:creationId xmlns:a16="http://schemas.microsoft.com/office/drawing/2014/main" id="{7BAC3618-4AF2-2C9C-4350-30E476CEAF94}"/>
                </a:ext>
              </a:extLst>
            </p:cNvPr>
            <p:cNvSpPr/>
            <p:nvPr/>
          </p:nvSpPr>
          <p:spPr>
            <a:xfrm rot="5400000">
              <a:off x="4212772" y="5050973"/>
              <a:ext cx="206829" cy="859969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ight Brace 29">
              <a:extLst>
                <a:ext uri="{FF2B5EF4-FFF2-40B4-BE49-F238E27FC236}">
                  <a16:creationId xmlns:a16="http://schemas.microsoft.com/office/drawing/2014/main" id="{5E4613B3-094D-FFB3-D45E-95E1717A4D48}"/>
                </a:ext>
              </a:extLst>
            </p:cNvPr>
            <p:cNvSpPr/>
            <p:nvPr/>
          </p:nvSpPr>
          <p:spPr>
            <a:xfrm rot="5400000">
              <a:off x="5159829" y="5050973"/>
              <a:ext cx="206829" cy="859969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ight Brace 30">
              <a:extLst>
                <a:ext uri="{FF2B5EF4-FFF2-40B4-BE49-F238E27FC236}">
                  <a16:creationId xmlns:a16="http://schemas.microsoft.com/office/drawing/2014/main" id="{B796F249-851A-800E-9E2D-0B77941E0C00}"/>
                </a:ext>
              </a:extLst>
            </p:cNvPr>
            <p:cNvSpPr/>
            <p:nvPr/>
          </p:nvSpPr>
          <p:spPr>
            <a:xfrm rot="5400000">
              <a:off x="6193971" y="5061858"/>
              <a:ext cx="206829" cy="859969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56005D9-C303-237F-93E4-B60A9727C93B}"/>
                </a:ext>
              </a:extLst>
            </p:cNvPr>
            <p:cNvSpPr txBox="1"/>
            <p:nvPr/>
          </p:nvSpPr>
          <p:spPr>
            <a:xfrm>
              <a:off x="2046514" y="5682342"/>
              <a:ext cx="707571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/>
                <a:t>KAT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9CC3926-9BBC-C830-3ACA-E36EC81417D2}"/>
                </a:ext>
              </a:extLst>
            </p:cNvPr>
            <p:cNvSpPr txBox="1"/>
            <p:nvPr/>
          </p:nvSpPr>
          <p:spPr>
            <a:xfrm>
              <a:off x="4125685" y="5584371"/>
              <a:ext cx="413657" cy="38021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/>
                <a:t>c</a:t>
              </a:r>
              <a:endParaRPr lang="en-US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1A58F39-361B-26FA-2371-1D04D0371BA3}"/>
                </a:ext>
              </a:extLst>
            </p:cNvPr>
            <p:cNvSpPr txBox="1"/>
            <p:nvPr/>
          </p:nvSpPr>
          <p:spPr>
            <a:xfrm>
              <a:off x="5127170" y="5584370"/>
              <a:ext cx="707571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/>
                <a:t>a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8FF197E-9EA7-BBAB-C14E-46FF6293EFB4}"/>
                </a:ext>
              </a:extLst>
            </p:cNvPr>
            <p:cNvSpPr txBox="1"/>
            <p:nvPr/>
          </p:nvSpPr>
          <p:spPr>
            <a:xfrm>
              <a:off x="6106885" y="5595256"/>
              <a:ext cx="707571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/>
                <a:t>t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1232773C-3022-BB8D-F758-AE6BD30E2C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84370" y="4071257"/>
              <a:ext cx="609601" cy="772885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DE1FC01-0602-6D8E-7947-438F0F415E01}"/>
              </a:ext>
            </a:extLst>
          </p:cNvPr>
          <p:cNvCxnSpPr>
            <a:cxnSpLocks/>
          </p:cNvCxnSpPr>
          <p:nvPr/>
        </p:nvCxnSpPr>
        <p:spPr>
          <a:xfrm flipH="1">
            <a:off x="3201778" y="6013820"/>
            <a:ext cx="1886757" cy="177099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1468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push/>
      </p:transition>
    </mc:Choice>
    <mc:Fallback xmlns="">
      <p:transition spd="slow">
        <p:push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3966C-7A99-7578-03E2-85EB6548B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3EC7FC2-81AF-5A4A-2135-AE471B080EFF}"/>
              </a:ext>
            </a:extLst>
          </p:cNvPr>
          <p:cNvCxnSpPr>
            <a:cxnSpLocks/>
          </p:cNvCxnSpPr>
          <p:nvPr/>
        </p:nvCxnSpPr>
        <p:spPr>
          <a:xfrm flipH="1">
            <a:off x="3330566" y="-962237"/>
            <a:ext cx="1886757" cy="177099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18DB9BE-89DD-8967-002B-0BF81CC77732}"/>
              </a:ext>
            </a:extLst>
          </p:cNvPr>
          <p:cNvSpPr txBox="1"/>
          <p:nvPr/>
        </p:nvSpPr>
        <p:spPr>
          <a:xfrm>
            <a:off x="1330816" y="912253"/>
            <a:ext cx="39602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ptos Mono"/>
              </a:rPr>
              <a:t>void </a:t>
            </a:r>
            <a:r>
              <a:rPr lang="en-US" dirty="0" err="1">
                <a:solidFill>
                  <a:srgbClr val="7030A0"/>
                </a:solidFill>
                <a:latin typeface="Aptos Mono"/>
              </a:rPr>
              <a:t>process_write</a:t>
            </a:r>
            <a:r>
              <a:rPr lang="en-US" dirty="0">
                <a:latin typeface="Aptos Mono"/>
              </a:rPr>
              <a:t>(...);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9AFD0D0-5038-7F80-57F1-7B8C4A7CC6E3}"/>
              </a:ext>
            </a:extLst>
          </p:cNvPr>
          <p:cNvGrpSpPr/>
          <p:nvPr/>
        </p:nvGrpSpPr>
        <p:grpSpPr>
          <a:xfrm>
            <a:off x="1453816" y="1514547"/>
            <a:ext cx="2667000" cy="3453492"/>
            <a:chOff x="1453816" y="1514547"/>
            <a:chExt cx="2667000" cy="3453492"/>
          </a:xfrm>
        </p:grpSpPr>
        <p:pic>
          <p:nvPicPr>
            <p:cNvPr id="3" name="Graphic 2" descr="logo.svg">
              <a:extLst>
                <a:ext uri="{FF2B5EF4-FFF2-40B4-BE49-F238E27FC236}">
                  <a16:creationId xmlns:a16="http://schemas.microsoft.com/office/drawing/2014/main" id="{A794120B-0DFF-356B-BED3-CE32E2B48AC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453816" y="3634539"/>
              <a:ext cx="2667000" cy="1333500"/>
            </a:xfrm>
            <a:prstGeom prst="rect">
              <a:avLst/>
            </a:prstGeom>
          </p:spPr>
        </p:pic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486CABEA-3F32-515D-0C29-BAF8B2D14D9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77265" y="1514547"/>
              <a:ext cx="78206" cy="2116411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67745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ECB5B-AFA1-3811-710B-E8E613DE5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Sekvence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773623-DA31-3F82-24F7-E75F6CA5B174}"/>
              </a:ext>
            </a:extLst>
          </p:cNvPr>
          <p:cNvSpPr txBox="1"/>
          <p:nvPr/>
        </p:nvSpPr>
        <p:spPr>
          <a:xfrm>
            <a:off x="3136074" y="2032786"/>
            <a:ext cx="212538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/>
              <a:t>KPHEPBLT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4104BF-11B7-58CC-E41F-136A71FD8942}"/>
              </a:ext>
            </a:extLst>
          </p:cNvPr>
          <p:cNvSpPr txBox="1"/>
          <p:nvPr/>
        </p:nvSpPr>
        <p:spPr>
          <a:xfrm>
            <a:off x="6876086" y="2002511"/>
            <a:ext cx="191247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/>
              <a:t>"comment"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145E5F-1B74-84D9-19D0-5A1D138BBF8F}"/>
              </a:ext>
            </a:extLst>
          </p:cNvPr>
          <p:cNvSpPr txBox="1"/>
          <p:nvPr/>
        </p:nvSpPr>
        <p:spPr>
          <a:xfrm>
            <a:off x="3136074" y="2594259"/>
            <a:ext cx="301772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/>
              <a:t>KPHEPBLT/TAER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EDE7C9-BAC5-5F8B-C177-69BF0D216C9F}"/>
              </a:ext>
            </a:extLst>
          </p:cNvPr>
          <p:cNvSpPr txBox="1"/>
          <p:nvPr/>
        </p:nvSpPr>
        <p:spPr>
          <a:xfrm>
            <a:off x="6876086" y="2594062"/>
            <a:ext cx="225336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/>
              <a:t>"commentary"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21BFCBE-618F-BA55-BC08-0B0DF9ECEBDA}"/>
              </a:ext>
            </a:extLst>
          </p:cNvPr>
          <p:cNvCxnSpPr/>
          <p:nvPr/>
        </p:nvCxnSpPr>
        <p:spPr>
          <a:xfrm>
            <a:off x="5138191" y="2197139"/>
            <a:ext cx="1613647" cy="1088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6A63BA2-730C-144E-9085-0D5DE8B89F65}"/>
              </a:ext>
            </a:extLst>
          </p:cNvPr>
          <p:cNvCxnSpPr>
            <a:cxnSpLocks/>
          </p:cNvCxnSpPr>
          <p:nvPr/>
        </p:nvCxnSpPr>
        <p:spPr>
          <a:xfrm>
            <a:off x="5950322" y="2828797"/>
            <a:ext cx="801516" cy="85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B8ACD28-1529-E562-E2FD-F7BBB0D5C840}"/>
              </a:ext>
            </a:extLst>
          </p:cNvPr>
          <p:cNvSpPr txBox="1"/>
          <p:nvPr/>
        </p:nvSpPr>
        <p:spPr>
          <a:xfrm>
            <a:off x="1461678" y="5020628"/>
            <a:ext cx="476230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>
                <a:ea typeface="+mn-lt"/>
                <a:cs typeface="+mn-lt"/>
              </a:rPr>
              <a:t>SPWR/TKEUS/PHREUPB/AER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E8080B-12DE-7BE8-7698-58797F253D56}"/>
              </a:ext>
            </a:extLst>
          </p:cNvPr>
          <p:cNvSpPr txBox="1"/>
          <p:nvPr/>
        </p:nvSpPr>
        <p:spPr>
          <a:xfrm>
            <a:off x="7116716" y="5020430"/>
            <a:ext cx="354675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/>
              <a:t>"</a:t>
            </a:r>
            <a:r>
              <a:rPr lang="en-US" sz="2400">
                <a:ea typeface="+mn-lt"/>
                <a:cs typeface="+mn-lt"/>
              </a:rPr>
              <a:t>interdisciplinary</a:t>
            </a:r>
            <a:r>
              <a:rPr lang="en-US" sz="2400"/>
              <a:t>"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CDA8B84-3420-22EE-F354-B2EFA0D4FDEC}"/>
              </a:ext>
            </a:extLst>
          </p:cNvPr>
          <p:cNvCxnSpPr>
            <a:cxnSpLocks/>
          </p:cNvCxnSpPr>
          <p:nvPr/>
        </p:nvCxnSpPr>
        <p:spPr>
          <a:xfrm>
            <a:off x="6221032" y="5255165"/>
            <a:ext cx="801516" cy="85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7056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ECE7D-1218-B0C5-B9DC-ABE63FC30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8AFEA-5F42-FAF5-4419-F9C33AD54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accent6">
                    <a:lumMod val="76000"/>
                  </a:schemeClr>
                </a:solidFill>
              </a:rPr>
              <a:t>py</a:t>
            </a:r>
            <a:r>
              <a:rPr lang="en-US" dirty="0">
                <a:solidFill>
                  <a:schemeClr val="accent6">
                    <a:lumMod val="76000"/>
                  </a:schemeClr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generate_dict</a:t>
            </a:r>
            <a:endParaRPr lang="en-US">
              <a:solidFill>
                <a:srgbClr val="002060"/>
              </a:solidFill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087F8E9-5263-4AB2-AD56-EB663DFAAD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9784" y="2277288"/>
            <a:ext cx="5268076" cy="559834"/>
          </a:xfrm>
        </p:spPr>
        <p:txBody>
          <a:bodyPr/>
          <a:lstStyle/>
          <a:p>
            <a:r>
              <a:rPr lang="en-US"/>
              <a:t>JSON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CBB1A21A-FB77-3DB5-505E-F7EFDAD6B4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9784" y="2978447"/>
            <a:ext cx="5268076" cy="238145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highlight>
                  <a:srgbClr val="FFFFFF"/>
                </a:highlight>
                <a:latin typeface="Aptos Mono"/>
              </a:rPr>
              <a:t>{ </a:t>
            </a:r>
            <a:br>
              <a:rPr lang="en-US" sz="1800" dirty="0">
                <a:highlight>
                  <a:srgbClr val="FFFFFF"/>
                </a:highlight>
                <a:latin typeface="Aptos Mono"/>
              </a:rPr>
            </a:br>
            <a:r>
              <a:rPr lang="en-US" sz="1800" dirty="0">
                <a:highlight>
                  <a:srgbClr val="FFFFFF"/>
                </a:highlight>
                <a:latin typeface="Aptos Mono"/>
              </a:rPr>
              <a:t>  </a:t>
            </a:r>
            <a:r>
              <a:rPr lang="en-US" sz="1800" dirty="0">
                <a:solidFill>
                  <a:schemeClr val="accent4">
                    <a:lumMod val="76000"/>
                  </a:schemeClr>
                </a:solidFill>
                <a:highlight>
                  <a:srgbClr val="FFFFFF"/>
                </a:highlight>
                <a:latin typeface="Aptos Mono"/>
              </a:rPr>
              <a:t>"-T"</a:t>
            </a:r>
            <a:r>
              <a:rPr lang="en-US" sz="1800" dirty="0">
                <a:highlight>
                  <a:srgbClr val="FFFFFF"/>
                </a:highlight>
                <a:latin typeface="Aptos Mono"/>
              </a:rPr>
              <a:t>: </a:t>
            </a:r>
            <a:r>
              <a:rPr lang="en-US" sz="1800" dirty="0">
                <a:solidFill>
                  <a:schemeClr val="accent4">
                    <a:lumMod val="76000"/>
                  </a:schemeClr>
                </a:solidFill>
                <a:highlight>
                  <a:srgbClr val="FFFFFF"/>
                </a:highlight>
                <a:latin typeface="Aptos Mono"/>
              </a:rPr>
              <a:t>"the"</a:t>
            </a:r>
            <a:r>
              <a:rPr lang="en-US" sz="1800" dirty="0">
                <a:highlight>
                  <a:srgbClr val="FFFFFF"/>
                </a:highlight>
                <a:latin typeface="Aptos Mono"/>
              </a:rPr>
              <a:t>,</a:t>
            </a:r>
            <a:br>
              <a:rPr lang="en-US" sz="1800" dirty="0">
                <a:highlight>
                  <a:srgbClr val="FFFFFF"/>
                </a:highlight>
                <a:latin typeface="Aptos Mono"/>
              </a:rPr>
            </a:br>
            <a:r>
              <a:rPr lang="en-US" sz="1800" dirty="0">
                <a:highlight>
                  <a:srgbClr val="FFFFFF"/>
                </a:highlight>
                <a:latin typeface="Aptos Mono"/>
              </a:rPr>
              <a:t>  </a:t>
            </a:r>
            <a:r>
              <a:rPr lang="en-US" sz="1800" dirty="0">
                <a:solidFill>
                  <a:schemeClr val="accent4">
                    <a:lumMod val="76000"/>
                  </a:schemeClr>
                </a:solidFill>
                <a:highlight>
                  <a:srgbClr val="FFFFFF"/>
                </a:highlight>
                <a:latin typeface="Aptos Mono"/>
              </a:rPr>
              <a:t>"TO"</a:t>
            </a:r>
            <a:r>
              <a:rPr lang="en-US" sz="1800" dirty="0">
                <a:highlight>
                  <a:srgbClr val="FFFFFF"/>
                </a:highlight>
                <a:latin typeface="Aptos Mono"/>
              </a:rPr>
              <a:t>: </a:t>
            </a:r>
            <a:r>
              <a:rPr lang="en-US" sz="1800" dirty="0">
                <a:solidFill>
                  <a:schemeClr val="accent4">
                    <a:lumMod val="76000"/>
                  </a:schemeClr>
                </a:solidFill>
                <a:highlight>
                  <a:srgbClr val="FFFFFF"/>
                </a:highlight>
                <a:latin typeface="Aptos Mono"/>
              </a:rPr>
              <a:t>"to"</a:t>
            </a:r>
            <a:r>
              <a:rPr lang="en-US" sz="1800" dirty="0">
                <a:highlight>
                  <a:srgbClr val="FFFFFF"/>
                </a:highlight>
                <a:latin typeface="Aptos Mono"/>
              </a:rPr>
              <a:t>,</a:t>
            </a:r>
            <a:br>
              <a:rPr lang="en-US" sz="1800" dirty="0">
                <a:highlight>
                  <a:srgbClr val="FFFFFF"/>
                </a:highlight>
                <a:latin typeface="Aptos Mono"/>
              </a:rPr>
            </a:br>
            <a:r>
              <a:rPr lang="en-US" sz="1800" dirty="0">
                <a:highlight>
                  <a:srgbClr val="FFFFFF"/>
                </a:highlight>
                <a:latin typeface="Aptos Mono"/>
              </a:rPr>
              <a:t>  </a:t>
            </a:r>
            <a:r>
              <a:rPr lang="en-US" sz="1800" dirty="0">
                <a:solidFill>
                  <a:schemeClr val="accent4">
                    <a:lumMod val="76000"/>
                  </a:schemeClr>
                </a:solidFill>
                <a:highlight>
                  <a:srgbClr val="FFFFFF"/>
                </a:highlight>
                <a:latin typeface="Aptos Mono"/>
              </a:rPr>
              <a:t>"KAT"</a:t>
            </a:r>
            <a:r>
              <a:rPr lang="en-US" sz="1800" dirty="0">
                <a:highlight>
                  <a:srgbClr val="FFFFFF"/>
                </a:highlight>
                <a:latin typeface="Aptos Mono"/>
              </a:rPr>
              <a:t>: </a:t>
            </a:r>
            <a:r>
              <a:rPr lang="en-US" sz="1800" dirty="0">
                <a:solidFill>
                  <a:schemeClr val="accent4">
                    <a:lumMod val="76000"/>
                  </a:schemeClr>
                </a:solidFill>
                <a:highlight>
                  <a:srgbClr val="FFFFFF"/>
                </a:highlight>
                <a:latin typeface="Aptos Mono"/>
              </a:rPr>
              <a:t>"cat"</a:t>
            </a:r>
            <a:br>
              <a:rPr lang="en-US" sz="1800" dirty="0">
                <a:highlight>
                  <a:srgbClr val="FFFFFF"/>
                </a:highlight>
                <a:latin typeface="Aptos Mono"/>
              </a:rPr>
            </a:br>
            <a:r>
              <a:rPr lang="en-US" sz="1800" dirty="0">
                <a:highlight>
                  <a:srgbClr val="FFFFFF"/>
                </a:highlight>
                <a:latin typeface="Aptos Mono"/>
              </a:rPr>
              <a:t>}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E3872BE-3433-5F07-05B1-9EB224EA2C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2173" y="2277288"/>
            <a:ext cx="5263399" cy="559834"/>
          </a:xfrm>
        </p:spPr>
        <p:txBody>
          <a:bodyPr/>
          <a:lstStyle/>
          <a:p>
            <a:r>
              <a:rPr lang="en-US"/>
              <a:t>Binary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51FC6047-648E-2D19-D757-A4EC05F087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62172" y="2978447"/>
            <a:ext cx="5263400" cy="238145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>
                <a:highlight>
                  <a:srgbClr val="FFFFFF"/>
                </a:highlight>
                <a:latin typeface="Aptos Mono"/>
                <a:ea typeface="+mn-lt"/>
                <a:cs typeface="+mn-lt"/>
              </a:rPr>
              <a:t>00000000: 40 80 00 74 6f 00  @..to.</a:t>
            </a:r>
            <a:endParaRPr lang="en-US" sz="1800">
              <a:latin typeface="Aptos Mono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>
                <a:highlight>
                  <a:srgbClr val="FFFFFF"/>
                </a:highlight>
                <a:latin typeface="Aptos Mono"/>
                <a:ea typeface="+mn-lt"/>
                <a:cs typeface="+mn-lt"/>
              </a:rPr>
              <a:t>00000006: 09 02 00 63 61 74  ...cat</a:t>
            </a:r>
            <a:endParaRPr lang="en-US" sz="1800">
              <a:latin typeface="Aptos Mono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>
                <a:highlight>
                  <a:srgbClr val="FFFFFF"/>
                </a:highlight>
                <a:latin typeface="Aptos Mono"/>
                <a:ea typeface="+mn-lt"/>
                <a:cs typeface="+mn-lt"/>
              </a:rPr>
              <a:t>0000000c: 00 02 00 74 68 65  ...the</a:t>
            </a:r>
            <a:endParaRPr lang="en-US" sz="1800">
              <a:latin typeface="Aptos Mono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EF3CE16-E2FC-726B-370B-AEA5FBDE3D35}"/>
              </a:ext>
            </a:extLst>
          </p:cNvPr>
          <p:cNvGrpSpPr/>
          <p:nvPr/>
        </p:nvGrpSpPr>
        <p:grpSpPr>
          <a:xfrm>
            <a:off x="7540934" y="4134282"/>
            <a:ext cx="1339229" cy="724260"/>
            <a:chOff x="7470750" y="3542729"/>
            <a:chExt cx="1339229" cy="724260"/>
          </a:xfrm>
        </p:grpSpPr>
        <p:sp>
          <p:nvSpPr>
            <p:cNvPr id="4" name="Right Brace 3">
              <a:extLst>
                <a:ext uri="{FF2B5EF4-FFF2-40B4-BE49-F238E27FC236}">
                  <a16:creationId xmlns:a16="http://schemas.microsoft.com/office/drawing/2014/main" id="{32CF0E9C-8483-7C53-90A5-4DE14B87C650}"/>
                </a:ext>
              </a:extLst>
            </p:cNvPr>
            <p:cNvSpPr/>
            <p:nvPr/>
          </p:nvSpPr>
          <p:spPr>
            <a:xfrm rot="5400000">
              <a:off x="7970923" y="3121337"/>
              <a:ext cx="267844" cy="1110627"/>
            </a:xfrm>
            <a:prstGeom prst="rightBrac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67CC34E-1C57-1BB1-9F69-732AC10A40DA}"/>
                </a:ext>
              </a:extLst>
            </p:cNvPr>
            <p:cNvSpPr txBox="1"/>
            <p:nvPr/>
          </p:nvSpPr>
          <p:spPr>
            <a:xfrm>
              <a:off x="7470750" y="3897657"/>
              <a:ext cx="1339229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dirty="0" err="1"/>
                <a:t>Akord</a:t>
              </a:r>
              <a:r>
                <a:rPr lang="en-US" dirty="0"/>
                <a:t> </a:t>
              </a:r>
              <a:r>
                <a:rPr lang="en-US" dirty="0">
                  <a:solidFill>
                    <a:srgbClr val="C00000"/>
                  </a:solidFill>
                </a:rPr>
                <a:t>-T</a:t>
              </a:r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A7F6096-6616-B98B-F865-F9EBEA996FA4}"/>
              </a:ext>
            </a:extLst>
          </p:cNvPr>
          <p:cNvGrpSpPr/>
          <p:nvPr/>
        </p:nvGrpSpPr>
        <p:grpSpPr>
          <a:xfrm>
            <a:off x="8893057" y="4124255"/>
            <a:ext cx="1060496" cy="736579"/>
            <a:chOff x="8822873" y="3532702"/>
            <a:chExt cx="1060496" cy="736579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7C4D524-0D79-2B1F-356E-25237B459646}"/>
                </a:ext>
              </a:extLst>
            </p:cNvPr>
            <p:cNvSpPr txBox="1"/>
            <p:nvPr/>
          </p:nvSpPr>
          <p:spPr>
            <a:xfrm>
              <a:off x="8958369" y="3899949"/>
              <a:ext cx="784631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/>
                <a:t>"</a:t>
              </a:r>
              <a:r>
                <a:rPr lang="en-US">
                  <a:solidFill>
                    <a:schemeClr val="bg2">
                      <a:lumMod val="49000"/>
                    </a:schemeClr>
                  </a:solidFill>
                </a:rPr>
                <a:t>the</a:t>
              </a:r>
              <a:r>
                <a:rPr lang="en-US"/>
                <a:t>"</a:t>
              </a:r>
              <a:endParaRPr lang="en-US" dirty="0"/>
            </a:p>
          </p:txBody>
        </p:sp>
        <p:sp>
          <p:nvSpPr>
            <p:cNvPr id="11" name="Right Brace 10">
              <a:extLst>
                <a:ext uri="{FF2B5EF4-FFF2-40B4-BE49-F238E27FC236}">
                  <a16:creationId xmlns:a16="http://schemas.microsoft.com/office/drawing/2014/main" id="{CB45E217-F391-EC1E-8D01-196980390132}"/>
                </a:ext>
              </a:extLst>
            </p:cNvPr>
            <p:cNvSpPr/>
            <p:nvPr/>
          </p:nvSpPr>
          <p:spPr>
            <a:xfrm rot="5400000">
              <a:off x="9219199" y="3136376"/>
              <a:ext cx="267844" cy="1060496"/>
            </a:xfrm>
            <a:prstGeom prst="rightBrac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03CBB06A-9821-530B-968F-8D2CA48CFA65}"/>
              </a:ext>
            </a:extLst>
          </p:cNvPr>
          <p:cNvSpPr/>
          <p:nvPr/>
        </p:nvSpPr>
        <p:spPr>
          <a:xfrm>
            <a:off x="3936618" y="3327304"/>
            <a:ext cx="1403111" cy="56605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191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VanillaVTI</vt:lpstr>
      <vt:lpstr>Stenokeyboard</vt:lpstr>
      <vt:lpstr>Teorie</vt:lpstr>
      <vt:lpstr>Akordy</vt:lpstr>
      <vt:lpstr>Firmware???</vt:lpstr>
      <vt:lpstr>Firmware???</vt:lpstr>
      <vt:lpstr>PowerPoint Presentation</vt:lpstr>
      <vt:lpstr>PowerPoint Presentation</vt:lpstr>
      <vt:lpstr>Sekvence</vt:lpstr>
      <vt:lpstr>py generate_dict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919</cp:revision>
  <dcterms:created xsi:type="dcterms:W3CDTF">2025-11-13T07:19:10Z</dcterms:created>
  <dcterms:modified xsi:type="dcterms:W3CDTF">2026-05-03T13:44:45Z</dcterms:modified>
</cp:coreProperties>
</file>